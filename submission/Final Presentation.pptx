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PT Sans Narrow"/>
      <p:regular r:id="rId13"/>
      <p:bold r:id="rId14"/>
    </p:embeddedFont>
    <p:embeddedFont>
      <p:font typeface="Open Sans"/>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PTSansNarrow-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penSans-regular.fntdata"/><Relationship Id="rId14" Type="http://schemas.openxmlformats.org/officeDocument/2006/relationships/font" Target="fonts/PTSansNarrow-bold.fntdata"/><Relationship Id="rId17" Type="http://schemas.openxmlformats.org/officeDocument/2006/relationships/font" Target="fonts/OpenSans-italic.fntdata"/><Relationship Id="rId16" Type="http://schemas.openxmlformats.org/officeDocument/2006/relationships/font" Target="fonts/OpenSans-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OpenSans-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Zoe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7f296b50d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7f296b50d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Zoe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7f296b50d_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7f296b50d_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Ling</a:t>
            </a:r>
            <a:endParaRPr/>
          </a:p>
          <a:p>
            <a:pPr indent="0" lvl="0" marL="0" rtl="0" algn="l">
              <a:spcBef>
                <a:spcPts val="0"/>
              </a:spcBef>
              <a:spcAft>
                <a:spcPts val="0"/>
              </a:spcAft>
              <a:buClr>
                <a:schemeClr val="dk1"/>
              </a:buClr>
              <a:buSzPts val="1100"/>
              <a:buFont typeface="Arial"/>
              <a:buNone/>
            </a:pPr>
            <a:r>
              <a:rPr lang="en-GB"/>
              <a:t>We care about this because clothing classification supports many real applications.</a:t>
            </a:r>
            <a:endParaRPr/>
          </a:p>
          <a:p>
            <a:pPr indent="0" lvl="0" marL="0" rtl="0" algn="l">
              <a:spcBef>
                <a:spcPts val="0"/>
              </a:spcBef>
              <a:spcAft>
                <a:spcPts val="0"/>
              </a:spcAft>
              <a:buClr>
                <a:schemeClr val="dk1"/>
              </a:buClr>
              <a:buSzPts val="1100"/>
              <a:buFont typeface="Arial"/>
              <a:buNone/>
            </a:pPr>
            <a:r>
              <a:rPr lang="en-GB"/>
              <a:t>For search and recommendation, it helps visual search and matches similar clothing items.</a:t>
            </a:r>
            <a:endParaRPr/>
          </a:p>
          <a:p>
            <a:pPr indent="0" lvl="0" marL="0" rtl="0" algn="l">
              <a:spcBef>
                <a:spcPts val="0"/>
              </a:spcBef>
              <a:spcAft>
                <a:spcPts val="0"/>
              </a:spcAft>
              <a:buClr>
                <a:schemeClr val="dk1"/>
              </a:buClr>
              <a:buSzPts val="1100"/>
              <a:buFont typeface="Arial"/>
              <a:buNone/>
            </a:pPr>
            <a:r>
              <a:rPr lang="en-GB"/>
              <a:t>For automation and inventory, it makes it easier for retailers to label, sort, and check different catalogs.</a:t>
            </a:r>
            <a:endParaRPr/>
          </a:p>
          <a:p>
            <a:pPr indent="0" lvl="0" marL="0" rtl="0" algn="l">
              <a:spcBef>
                <a:spcPts val="0"/>
              </a:spcBef>
              <a:spcAft>
                <a:spcPts val="0"/>
              </a:spcAft>
              <a:buClr>
                <a:schemeClr val="dk1"/>
              </a:buClr>
              <a:buSzPts val="1100"/>
              <a:buFont typeface="Arial"/>
              <a:buNone/>
            </a:pPr>
            <a:r>
              <a:rPr lang="en-GB"/>
              <a:t>And for AR environments, it’s the foundation for virtual try-on and interfaces that react to what someone is wearing.</a:t>
            </a:r>
            <a:endParaRPr/>
          </a:p>
          <a:p>
            <a:pPr indent="0" lvl="0" marL="0" rtl="0" algn="l">
              <a:spcBef>
                <a:spcPts val="0"/>
              </a:spcBef>
              <a:spcAft>
                <a:spcPts val="0"/>
              </a:spcAft>
              <a:buNone/>
            </a:pPr>
            <a:r>
              <a:rPr lang="en-GB"/>
              <a:t>So this task connects directly to real-world use cases.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7f296b50d_4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7f296b50d_4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400">
                <a:solidFill>
                  <a:srgbClr val="695D46"/>
                </a:solidFill>
                <a:latin typeface="Open Sans"/>
                <a:ea typeface="Open Sans"/>
                <a:cs typeface="Open Sans"/>
                <a:sym typeface="Open Sans"/>
              </a:rPr>
              <a:t>Aliya</a:t>
            </a:r>
            <a:endParaRPr sz="1400">
              <a:solidFill>
                <a:srgbClr val="695D46"/>
              </a:solidFill>
              <a:latin typeface="Open Sans"/>
              <a:ea typeface="Open Sans"/>
              <a:cs typeface="Open Sans"/>
              <a:sym typeface="Open Sans"/>
            </a:endParaRPr>
          </a:p>
          <a:p>
            <a:pPr indent="0" lvl="0" marL="0" rtl="0" algn="l">
              <a:lnSpc>
                <a:spcPct val="115000"/>
              </a:lnSpc>
              <a:spcBef>
                <a:spcPts val="1200"/>
              </a:spcBef>
              <a:spcAft>
                <a:spcPts val="0"/>
              </a:spcAft>
              <a:buClr>
                <a:schemeClr val="dk1"/>
              </a:buClr>
              <a:buSzPts val="1100"/>
              <a:buFont typeface="Arial"/>
              <a:buNone/>
            </a:pPr>
            <a:r>
              <a:rPr lang="en-GB" sz="1400">
                <a:solidFill>
                  <a:srgbClr val="695D46"/>
                </a:solidFill>
                <a:latin typeface="Open Sans"/>
                <a:ea typeface="Open Sans"/>
                <a:cs typeface="Open Sans"/>
                <a:sym typeface="Open Sans"/>
              </a:rPr>
              <a:t>What's new in your approach and why do you think it will be successful? </a:t>
            </a:r>
            <a:endParaRPr sz="1400">
              <a:solidFill>
                <a:srgbClr val="695D46"/>
              </a:solidFill>
              <a:latin typeface="Open Sans"/>
              <a:ea typeface="Open Sans"/>
              <a:cs typeface="Open Sans"/>
              <a:sym typeface="Open Sans"/>
            </a:endParaRPr>
          </a:p>
          <a:p>
            <a:pPr indent="0" lvl="0" marL="0" rtl="0" algn="l">
              <a:lnSpc>
                <a:spcPct val="115000"/>
              </a:lnSpc>
              <a:spcBef>
                <a:spcPts val="1200"/>
              </a:spcBef>
              <a:spcAft>
                <a:spcPts val="0"/>
              </a:spcAft>
              <a:buClr>
                <a:srgbClr val="A1E8D9"/>
              </a:buClr>
              <a:buSzPts val="1100"/>
              <a:buFont typeface="Arial"/>
              <a:buNone/>
            </a:pPr>
            <a:r>
              <a:rPr lang="en-GB" sz="1400">
                <a:solidFill>
                  <a:srgbClr val="695D46"/>
                </a:solidFill>
                <a:latin typeface="Open Sans"/>
                <a:ea typeface="Open Sans"/>
                <a:cs typeface="Open Sans"/>
                <a:sym typeface="Open Sans"/>
              </a:rPr>
              <a:t>How is it done today, and what are the limits of current practice?</a:t>
            </a:r>
            <a:br>
              <a:rPr lang="en-GB" sz="1400">
                <a:solidFill>
                  <a:srgbClr val="695D46"/>
                </a:solidFill>
                <a:latin typeface="Open Sans"/>
                <a:ea typeface="Open Sans"/>
                <a:cs typeface="Open Sans"/>
                <a:sym typeface="Open Sans"/>
              </a:rPr>
            </a:br>
            <a:br>
              <a:rPr lang="en-GB" sz="1400">
                <a:solidFill>
                  <a:srgbClr val="695D46"/>
                </a:solidFill>
                <a:latin typeface="Open Sans"/>
                <a:ea typeface="Open Sans"/>
                <a:cs typeface="Open Sans"/>
                <a:sym typeface="Open Sans"/>
              </a:rPr>
            </a:br>
            <a:r>
              <a:rPr lang="en-GB" sz="1400">
                <a:solidFill>
                  <a:srgbClr val="695D46"/>
                </a:solidFill>
                <a:latin typeface="Open Sans"/>
                <a:ea typeface="Open Sans"/>
                <a:cs typeface="Open Sans"/>
                <a:sym typeface="Open Sans"/>
              </a:rPr>
              <a:t># we introduced softmax, instead of  doing binary, then one vs rest and one vs one. So, accuracy was increased and output was probabilistic</a:t>
            </a:r>
            <a:endParaRPr sz="1400">
              <a:solidFill>
                <a:srgbClr val="695D46"/>
              </a:solidFill>
              <a:latin typeface="Open Sans"/>
              <a:ea typeface="Open Sans"/>
              <a:cs typeface="Open Sans"/>
              <a:sym typeface="Open Sans"/>
            </a:endParaRPr>
          </a:p>
          <a:p>
            <a:pPr indent="0" lvl="0" marL="0" rtl="0" algn="l">
              <a:lnSpc>
                <a:spcPct val="115000"/>
              </a:lnSpc>
              <a:spcBef>
                <a:spcPts val="1200"/>
              </a:spcBef>
              <a:spcAft>
                <a:spcPts val="0"/>
              </a:spcAft>
              <a:buClr>
                <a:srgbClr val="A1E8D9"/>
              </a:buClr>
              <a:buSzPts val="1100"/>
              <a:buFont typeface="Arial"/>
              <a:buNone/>
            </a:pPr>
            <a:r>
              <a:rPr lang="en-GB" sz="1400">
                <a:solidFill>
                  <a:srgbClr val="695D46"/>
                </a:solidFill>
                <a:latin typeface="Open Sans"/>
                <a:ea typeface="Open Sans"/>
                <a:cs typeface="Open Sans"/>
                <a:sym typeface="Open Sans"/>
              </a:rPr>
              <a:t># Introduced favor of PCA  and other RBF basis alternatives.</a:t>
            </a:r>
            <a:endParaRPr sz="1400">
              <a:solidFill>
                <a:srgbClr val="695D46"/>
              </a:solidFill>
              <a:latin typeface="Open Sans"/>
              <a:ea typeface="Open Sans"/>
              <a:cs typeface="Open Sans"/>
              <a:sym typeface="Open Sans"/>
            </a:endParaRPr>
          </a:p>
          <a:p>
            <a:pPr indent="0" lvl="0" marL="0" rtl="0" algn="l">
              <a:spcBef>
                <a:spcPts val="1200"/>
              </a:spcBef>
              <a:spcAft>
                <a:spcPts val="0"/>
              </a:spcAft>
              <a:buNone/>
            </a:pPr>
            <a:r>
              <a:rPr lang="en-GB"/>
              <a:t>for our project, we looked at how clothing classification is normally done and how our approach improves on some of the limitations. </a:t>
            </a:r>
            <a:endParaRPr/>
          </a:p>
          <a:p>
            <a:pPr indent="0" lvl="0" marL="0" rtl="0" algn="l">
              <a:spcBef>
                <a:spcPts val="0"/>
              </a:spcBef>
              <a:spcAft>
                <a:spcPts val="0"/>
              </a:spcAft>
              <a:buNone/>
            </a:pPr>
            <a:r>
              <a:rPr lang="en-GB"/>
              <a:t>A lot of earlier models treat Fashion-MNIST as ten separate binary classification problems. </a:t>
            </a:r>
            <a:endParaRPr/>
          </a:p>
          <a:p>
            <a:pPr indent="0" lvl="0" marL="0" rtl="0" algn="l">
              <a:spcBef>
                <a:spcPts val="0"/>
              </a:spcBef>
              <a:spcAft>
                <a:spcPts val="0"/>
              </a:spcAft>
              <a:buNone/>
            </a:pPr>
            <a:r>
              <a:rPr lang="en-GB"/>
              <a:t>You train one model per class, either one-vs-rest or one-vs-one. </a:t>
            </a:r>
            <a:endParaRPr/>
          </a:p>
          <a:p>
            <a:pPr indent="0" lvl="0" marL="0" rtl="0" algn="l">
              <a:spcBef>
                <a:spcPts val="0"/>
              </a:spcBef>
              <a:spcAft>
                <a:spcPts val="0"/>
              </a:spcAft>
              <a:buNone/>
            </a:pPr>
            <a:r>
              <a:rPr lang="en-GB"/>
              <a:t>This works, but it is slower, less stable, and it does not naturally give you class probabilities. </a:t>
            </a:r>
            <a:endParaRPr/>
          </a:p>
          <a:p>
            <a:pPr indent="0" lvl="0" marL="0" rtl="0" algn="l">
              <a:spcBef>
                <a:spcPts val="0"/>
              </a:spcBef>
              <a:spcAft>
                <a:spcPts val="0"/>
              </a:spcAft>
              <a:buNone/>
            </a:pPr>
            <a:r>
              <a:rPr lang="en-GB"/>
              <a:t>Instead, we used softmax logistic regression, which handles all ten classes in a single model. </a:t>
            </a:r>
            <a:endParaRPr/>
          </a:p>
          <a:p>
            <a:pPr indent="0" lvl="0" marL="0" rtl="0" algn="l">
              <a:spcBef>
                <a:spcPts val="0"/>
              </a:spcBef>
              <a:spcAft>
                <a:spcPts val="0"/>
              </a:spcAft>
              <a:buNone/>
            </a:pPr>
            <a:r>
              <a:rPr lang="en-GB"/>
              <a:t>This ended up giving us better accuracy and clearer probabilistic outputs. </a:t>
            </a:r>
            <a:endParaRPr/>
          </a:p>
          <a:p>
            <a:pPr indent="0" lvl="0" marL="0" rtl="0" algn="l">
              <a:spcBef>
                <a:spcPts val="0"/>
              </a:spcBef>
              <a:spcAft>
                <a:spcPts val="0"/>
              </a:spcAft>
              <a:buNone/>
            </a:pPr>
            <a:r>
              <a:rPr lang="en-GB"/>
              <a:t>We also experimented with two different feature representations. First, we used PCA to reduce the data to 100 components. This makes the model faster, less noisy, and more generalizable. Second, we introduced an RBF basis mapping, which lets the logistic regression model create more flexible nonlinear decision boundaries. So overall, our contribution was showing that softmax combined with PCA or RBF features leads to a more efficient and accurate approach than the traditional binary methods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7f296b50d_4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7f296b50d_4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Saanjali</a:t>
            </a:r>
            <a:endParaRPr/>
          </a:p>
          <a:p>
            <a:pPr indent="-298450" lvl="0" marL="457200" rtl="0" algn="l">
              <a:spcBef>
                <a:spcPts val="0"/>
              </a:spcBef>
              <a:spcAft>
                <a:spcPts val="0"/>
              </a:spcAft>
              <a:buSzPts val="1100"/>
              <a:buChar char="-"/>
            </a:pPr>
            <a:r>
              <a:rPr lang="en-GB"/>
              <a:t>Probabilistic model for multiclass classification is more effective than multiple independent binary classifiers</a:t>
            </a:r>
            <a:endParaRPr/>
          </a:p>
          <a:p>
            <a:pPr indent="-298450" lvl="0" marL="457200" rtl="0" algn="l">
              <a:spcBef>
                <a:spcPts val="0"/>
              </a:spcBef>
              <a:spcAft>
                <a:spcPts val="0"/>
              </a:spcAft>
              <a:buSzPts val="1100"/>
              <a:buChar char="-"/>
            </a:pPr>
            <a:r>
              <a:rPr lang="en-GB"/>
              <a:t>Softmax is fast because it learns all class probabilities simultaneously. Compute single matrix multiplication, but OvR runs 10 classifiers for every test sample (longer but still 3x faster)</a:t>
            </a:r>
            <a:endParaRPr/>
          </a:p>
          <a:p>
            <a:pPr indent="-298450" lvl="0" marL="457200" rtl="0" algn="l">
              <a:spcBef>
                <a:spcPts val="0"/>
              </a:spcBef>
              <a:spcAft>
                <a:spcPts val="0"/>
              </a:spcAft>
              <a:buSzPts val="1100"/>
              <a:buChar char="-"/>
            </a:pPr>
            <a:r>
              <a:rPr lang="en-GB"/>
              <a:t>PCA trades small amount of accuracy for efficiency</a:t>
            </a:r>
            <a:endParaRPr/>
          </a:p>
          <a:p>
            <a:pPr indent="-298450" lvl="0" marL="457200" rtl="0" algn="l">
              <a:spcBef>
                <a:spcPts val="0"/>
              </a:spcBef>
              <a:spcAft>
                <a:spcPts val="0"/>
              </a:spcAft>
              <a:buSzPts val="1100"/>
              <a:buChar char="-"/>
            </a:pPr>
            <a:r>
              <a:rPr lang="en-GB"/>
              <a:t>This was trained on the regular MNIST but can the models perform when images are further modified?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7f296b50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7f296b50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400">
                <a:solidFill>
                  <a:srgbClr val="695D46"/>
                </a:solidFill>
                <a:latin typeface="Open Sans"/>
                <a:ea typeface="Open Sans"/>
                <a:cs typeface="Open Sans"/>
                <a:sym typeface="Open Sans"/>
              </a:rPr>
              <a:t>Bibek</a:t>
            </a:r>
            <a:br>
              <a:rPr lang="en-GB" sz="1400">
                <a:solidFill>
                  <a:srgbClr val="695D46"/>
                </a:solidFill>
                <a:latin typeface="Open Sans"/>
                <a:ea typeface="Open Sans"/>
                <a:cs typeface="Open Sans"/>
                <a:sym typeface="Open Sans"/>
              </a:rPr>
            </a:br>
            <a:r>
              <a:rPr lang="en-GB" sz="1400">
                <a:solidFill>
                  <a:srgbClr val="695D46"/>
                </a:solidFill>
                <a:latin typeface="Open Sans"/>
                <a:ea typeface="Open Sans"/>
                <a:cs typeface="Open Sans"/>
                <a:sym typeface="Open Sans"/>
              </a:rPr>
              <a:t>1. Discuss about  limitation of model</a:t>
            </a:r>
            <a:endParaRPr sz="1400">
              <a:solidFill>
                <a:srgbClr val="695D46"/>
              </a:solidFill>
              <a:latin typeface="Open Sans"/>
              <a:ea typeface="Open Sans"/>
              <a:cs typeface="Open Sans"/>
              <a:sym typeface="Open Sans"/>
            </a:endParaRPr>
          </a:p>
          <a:p>
            <a:pPr indent="0" lvl="0" marL="0" rtl="0" algn="l">
              <a:lnSpc>
                <a:spcPct val="115000"/>
              </a:lnSpc>
              <a:spcBef>
                <a:spcPts val="1200"/>
              </a:spcBef>
              <a:spcAft>
                <a:spcPts val="0"/>
              </a:spcAft>
              <a:buClr>
                <a:schemeClr val="dk1"/>
              </a:buClr>
              <a:buSzPts val="1100"/>
              <a:buFont typeface="Arial"/>
              <a:buNone/>
            </a:pPr>
            <a:r>
              <a:rPr lang="en-GB" sz="1400">
                <a:solidFill>
                  <a:srgbClr val="695D46"/>
                </a:solidFill>
                <a:latin typeface="Open Sans"/>
                <a:ea typeface="Open Sans"/>
                <a:cs typeface="Open Sans"/>
                <a:sym typeface="Open Sans"/>
              </a:rPr>
              <a:t>2. Challenges we face  during hyperparameters and youtube demo(Do not think we might have time for real demo)</a:t>
            </a:r>
            <a:endParaRPr sz="1400">
              <a:solidFill>
                <a:srgbClr val="695D46"/>
              </a:solidFill>
              <a:latin typeface="Open Sans"/>
              <a:ea typeface="Open Sans"/>
              <a:cs typeface="Open Sans"/>
              <a:sym typeface="Open Sans"/>
            </a:endParaRPr>
          </a:p>
          <a:p>
            <a:pPr indent="0" lvl="0" marL="0" rtl="0" algn="l">
              <a:lnSpc>
                <a:spcPct val="115000"/>
              </a:lnSpc>
              <a:spcBef>
                <a:spcPts val="1200"/>
              </a:spcBef>
              <a:spcAft>
                <a:spcPts val="1200"/>
              </a:spcAft>
              <a:buClr>
                <a:schemeClr val="dk1"/>
              </a:buClr>
              <a:buSzPts val="1100"/>
              <a:buFont typeface="Arial"/>
              <a:buNone/>
            </a:pPr>
            <a:r>
              <a:t/>
            </a:r>
            <a:endParaRPr sz="1400">
              <a:solidFill>
                <a:srgbClr val="695D46"/>
              </a:solidFill>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d45cf5ffd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d45cf5ffd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0650" y="973343"/>
            <a:ext cx="7142700" cy="2012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SzPts val="891"/>
              <a:buNone/>
            </a:pPr>
            <a:r>
              <a:rPr lang="en-GB" sz="4160"/>
              <a:t>W</a:t>
            </a:r>
            <a:r>
              <a:rPr lang="en-GB" sz="4160"/>
              <a:t>hen AI Meets Fashion:</a:t>
            </a:r>
            <a:endParaRPr sz="4160"/>
          </a:p>
          <a:p>
            <a:pPr indent="0" lvl="0" marL="0" rtl="0" algn="ctr">
              <a:spcBef>
                <a:spcPts val="0"/>
              </a:spcBef>
              <a:spcAft>
                <a:spcPts val="0"/>
              </a:spcAft>
              <a:buSzPts val="891"/>
              <a:buNone/>
            </a:pPr>
            <a:r>
              <a:rPr lang="en-GB" sz="4160"/>
              <a:t>Multiclass Trend Prediction Using Fashion-MNIST</a:t>
            </a:r>
            <a:endParaRPr sz="4160"/>
          </a:p>
        </p:txBody>
      </p:sp>
      <p:sp>
        <p:nvSpPr>
          <p:cNvPr id="67" name="Google Shape;67;p13"/>
          <p:cNvSpPr txBox="1"/>
          <p:nvPr/>
        </p:nvSpPr>
        <p:spPr>
          <a:xfrm>
            <a:off x="642750" y="3137050"/>
            <a:ext cx="7793400" cy="1217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600"/>
              </a:spcBef>
              <a:spcAft>
                <a:spcPts val="0"/>
              </a:spcAft>
              <a:buNone/>
            </a:pPr>
            <a:r>
              <a:rPr b="1" lang="en-GB" sz="1700">
                <a:solidFill>
                  <a:srgbClr val="1F1F1F"/>
                </a:solidFill>
                <a:highlight>
                  <a:srgbClr val="FFFFFF"/>
                </a:highlight>
                <a:latin typeface="PT Sans Narrow"/>
                <a:ea typeface="PT Sans Narrow"/>
                <a:cs typeface="PT Sans Narrow"/>
                <a:sym typeface="PT Sans Narrow"/>
              </a:rPr>
              <a:t>Team Members</a:t>
            </a:r>
            <a:r>
              <a:rPr lang="en-GB" sz="1700">
                <a:solidFill>
                  <a:srgbClr val="1F1F1F"/>
                </a:solidFill>
                <a:highlight>
                  <a:srgbClr val="FFFFFF"/>
                </a:highlight>
                <a:latin typeface="PT Sans Narrow"/>
                <a:ea typeface="PT Sans Narrow"/>
                <a:cs typeface="PT Sans Narrow"/>
                <a:sym typeface="PT Sans Narrow"/>
              </a:rPr>
              <a:t>: Zoe Marshall | Bibek Dhungana |</a:t>
            </a:r>
            <a:endParaRPr sz="1700">
              <a:solidFill>
                <a:srgbClr val="1F1F1F"/>
              </a:solidFill>
              <a:highlight>
                <a:srgbClr val="FFFFFF"/>
              </a:highlight>
              <a:latin typeface="PT Sans Narrow"/>
              <a:ea typeface="PT Sans Narrow"/>
              <a:cs typeface="PT Sans Narrow"/>
              <a:sym typeface="PT Sans Narrow"/>
            </a:endParaRPr>
          </a:p>
          <a:p>
            <a:pPr indent="0" lvl="0" marL="0" rtl="0" algn="ctr">
              <a:lnSpc>
                <a:spcPct val="115000"/>
              </a:lnSpc>
              <a:spcBef>
                <a:spcPts val="600"/>
              </a:spcBef>
              <a:spcAft>
                <a:spcPts val="0"/>
              </a:spcAft>
              <a:buNone/>
            </a:pPr>
            <a:r>
              <a:rPr lang="en-GB" sz="1700">
                <a:solidFill>
                  <a:srgbClr val="1F1F1F"/>
                </a:solidFill>
                <a:highlight>
                  <a:srgbClr val="FFFFFF"/>
                </a:highlight>
                <a:latin typeface="PT Sans Narrow"/>
                <a:ea typeface="PT Sans Narrow"/>
                <a:cs typeface="PT Sans Narrow"/>
                <a:sym typeface="PT Sans Narrow"/>
              </a:rPr>
              <a:t> Saanjali Majmunda</a:t>
            </a:r>
            <a:r>
              <a:rPr lang="en-GB" sz="1700">
                <a:solidFill>
                  <a:srgbClr val="1F1F1F"/>
                </a:solidFill>
                <a:highlight>
                  <a:srgbClr val="FFFFFF"/>
                </a:highlight>
                <a:latin typeface="PT Sans Narrow"/>
                <a:ea typeface="PT Sans Narrow"/>
                <a:cs typeface="PT Sans Narrow"/>
                <a:sym typeface="PT Sans Narrow"/>
              </a:rPr>
              <a:t>r | </a:t>
            </a:r>
            <a:r>
              <a:rPr lang="en-GB" sz="1700">
                <a:solidFill>
                  <a:srgbClr val="1F1F1F"/>
                </a:solidFill>
                <a:highlight>
                  <a:srgbClr val="FFFFFF"/>
                </a:highlight>
                <a:latin typeface="PT Sans Narrow"/>
                <a:ea typeface="PT Sans Narrow"/>
                <a:cs typeface="PT Sans Narrow"/>
                <a:sym typeface="PT Sans Narrow"/>
              </a:rPr>
              <a:t>Lingxin Chen | Aliya Eissa</a:t>
            </a:r>
            <a:endParaRPr sz="1700">
              <a:solidFill>
                <a:srgbClr val="1F1F1F"/>
              </a:solidFill>
              <a:highlight>
                <a:srgbClr val="FFFFFF"/>
              </a:highlight>
              <a:latin typeface="PT Sans Narrow"/>
              <a:ea typeface="PT Sans Narrow"/>
              <a:cs typeface="PT Sans Narrow"/>
              <a:sym typeface="PT Sans Narrow"/>
            </a:endParaRPr>
          </a:p>
          <a:p>
            <a:pPr indent="0" lvl="0" marL="0" rtl="0" algn="l">
              <a:spcBef>
                <a:spcPts val="600"/>
              </a:spcBef>
              <a:spcAft>
                <a:spcPts val="0"/>
              </a:spcAft>
              <a:buNone/>
            </a:pPr>
            <a:r>
              <a:t/>
            </a:r>
            <a:endParaRPr sz="1800">
              <a:solidFill>
                <a:schemeClr val="dk2"/>
              </a:solidFill>
              <a:latin typeface="PT Sans Narrow"/>
              <a:ea typeface="PT Sans Narrow"/>
              <a:cs typeface="PT Sans Narrow"/>
              <a:sym typeface="PT Sans Narro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Goals</a:t>
            </a:r>
            <a:endParaRPr/>
          </a:p>
        </p:txBody>
      </p:sp>
      <p:sp>
        <p:nvSpPr>
          <p:cNvPr id="73" name="Google Shape;73;p14"/>
          <p:cNvSpPr txBox="1"/>
          <p:nvPr>
            <p:ph idx="1" type="body"/>
          </p:nvPr>
        </p:nvSpPr>
        <p:spPr>
          <a:xfrm>
            <a:off x="311700" y="1517350"/>
            <a:ext cx="84540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000000"/>
                </a:solidFill>
                <a:latin typeface="PT Sans Narrow"/>
                <a:ea typeface="PT Sans Narrow"/>
                <a:cs typeface="PT Sans Narrow"/>
                <a:sym typeface="PT Sans Narrow"/>
              </a:rPr>
              <a:t>1</a:t>
            </a:r>
            <a:r>
              <a:rPr lang="en-GB" sz="2000">
                <a:solidFill>
                  <a:srgbClr val="000000"/>
                </a:solidFill>
                <a:latin typeface="PT Sans Narrow"/>
                <a:ea typeface="PT Sans Narrow"/>
                <a:cs typeface="PT Sans Narrow"/>
                <a:sym typeface="PT Sans Narrow"/>
              </a:rPr>
              <a:t>. </a:t>
            </a:r>
            <a:r>
              <a:rPr lang="en-GB" sz="2000">
                <a:solidFill>
                  <a:srgbClr val="000000"/>
                </a:solidFill>
                <a:latin typeface="PT Sans Narrow"/>
                <a:ea typeface="PT Sans Narrow"/>
                <a:cs typeface="PT Sans Narrow"/>
                <a:sym typeface="PT Sans Narrow"/>
              </a:rPr>
              <a:t>Build a system that can reliably recognize different kinds of clothing in images</a:t>
            </a:r>
            <a:endParaRPr sz="2000">
              <a:solidFill>
                <a:srgbClr val="000000"/>
              </a:solidFill>
              <a:latin typeface="PT Sans Narrow"/>
              <a:ea typeface="PT Sans Narrow"/>
              <a:cs typeface="PT Sans Narrow"/>
              <a:sym typeface="PT Sans Narrow"/>
            </a:endParaRPr>
          </a:p>
          <a:p>
            <a:pPr indent="-355600" lvl="0" marL="457200" rtl="0" algn="l">
              <a:spcBef>
                <a:spcPts val="1200"/>
              </a:spcBef>
              <a:spcAft>
                <a:spcPts val="0"/>
              </a:spcAft>
              <a:buClr>
                <a:srgbClr val="000000"/>
              </a:buClr>
              <a:buSzPts val="2000"/>
              <a:buFont typeface="PT Sans Narrow"/>
              <a:buChar char="-"/>
            </a:pPr>
            <a:r>
              <a:rPr lang="en-GB" sz="2000">
                <a:solidFill>
                  <a:srgbClr val="000000"/>
                </a:solidFill>
                <a:latin typeface="PT Sans Narrow"/>
                <a:ea typeface="PT Sans Narrow"/>
                <a:cs typeface="PT Sans Narrow"/>
                <a:sym typeface="PT Sans Narrow"/>
              </a:rPr>
              <a:t>Analyze</a:t>
            </a:r>
            <a:r>
              <a:rPr lang="en-GB" sz="2000">
                <a:solidFill>
                  <a:srgbClr val="000000"/>
                </a:solidFill>
                <a:latin typeface="PT Sans Narrow"/>
                <a:ea typeface="PT Sans Narrow"/>
                <a:cs typeface="PT Sans Narrow"/>
                <a:sym typeface="PT Sans Narrow"/>
              </a:rPr>
              <a:t> different classifying algorithms for best performance</a:t>
            </a:r>
            <a:endParaRPr sz="2000">
              <a:solidFill>
                <a:srgbClr val="000000"/>
              </a:solidFill>
              <a:latin typeface="PT Sans Narrow"/>
              <a:ea typeface="PT Sans Narrow"/>
              <a:cs typeface="PT Sans Narrow"/>
              <a:sym typeface="PT Sans Narrow"/>
            </a:endParaRPr>
          </a:p>
          <a:p>
            <a:pPr indent="0" lvl="0" marL="0" rtl="0" algn="l">
              <a:spcBef>
                <a:spcPts val="1200"/>
              </a:spcBef>
              <a:spcAft>
                <a:spcPts val="0"/>
              </a:spcAft>
              <a:buNone/>
            </a:pPr>
            <a:r>
              <a:rPr lang="en-GB" sz="2000">
                <a:solidFill>
                  <a:srgbClr val="000000"/>
                </a:solidFill>
                <a:latin typeface="PT Sans Narrow"/>
                <a:ea typeface="PT Sans Narrow"/>
                <a:cs typeface="PT Sans Narrow"/>
                <a:sym typeface="PT Sans Narrow"/>
              </a:rPr>
              <a:t>2. Build a pipeline between real-world camera- captured images and Fashion-MNIST dataset in be able use our training information</a:t>
            </a:r>
            <a:endParaRPr sz="2000">
              <a:solidFill>
                <a:srgbClr val="000000"/>
              </a:solidFill>
              <a:latin typeface="PT Sans Narrow"/>
              <a:ea typeface="PT Sans Narrow"/>
              <a:cs typeface="PT Sans Narrow"/>
              <a:sym typeface="PT Sans Narrow"/>
            </a:endParaRPr>
          </a:p>
          <a:p>
            <a:pPr indent="0" lvl="0" marL="0" rtl="0" algn="l">
              <a:spcBef>
                <a:spcPts val="1200"/>
              </a:spcBef>
              <a:spcAft>
                <a:spcPts val="1200"/>
              </a:spcAft>
              <a:buNone/>
            </a:pPr>
            <a:r>
              <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00" y="433063"/>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Why do we care what are we trying to solve</a:t>
            </a:r>
            <a:endParaRPr/>
          </a:p>
        </p:txBody>
      </p:sp>
      <p:sp>
        <p:nvSpPr>
          <p:cNvPr id="79" name="Google Shape;79;p15"/>
          <p:cNvSpPr txBox="1"/>
          <p:nvPr>
            <p:ph idx="1" type="body"/>
          </p:nvPr>
        </p:nvSpPr>
        <p:spPr>
          <a:xfrm>
            <a:off x="288550" y="1355350"/>
            <a:ext cx="41979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000000"/>
                </a:solidFill>
                <a:latin typeface="PT Sans Narrow"/>
                <a:ea typeface="PT Sans Narrow"/>
                <a:cs typeface="PT Sans Narrow"/>
                <a:sym typeface="PT Sans Narrow"/>
              </a:rPr>
              <a:t>1. Search &amp; Recommendation</a:t>
            </a:r>
            <a:endParaRPr b="1" sz="2000">
              <a:solidFill>
                <a:srgbClr val="000000"/>
              </a:solidFill>
              <a:latin typeface="PT Sans Narrow"/>
              <a:ea typeface="PT Sans Narrow"/>
              <a:cs typeface="PT Sans Narrow"/>
              <a:sym typeface="PT Sans Narrow"/>
            </a:endParaRPr>
          </a:p>
          <a:p>
            <a:pPr indent="-355600" lvl="0" marL="457200" rtl="0" algn="l">
              <a:spcBef>
                <a:spcPts val="1200"/>
              </a:spcBef>
              <a:spcAft>
                <a:spcPts val="0"/>
              </a:spcAft>
              <a:buClr>
                <a:srgbClr val="000000"/>
              </a:buClr>
              <a:buSzPts val="2000"/>
              <a:buFont typeface="PT Sans Narrow"/>
              <a:buChar char="●"/>
            </a:pPr>
            <a:r>
              <a:rPr lang="en-GB" sz="2000">
                <a:solidFill>
                  <a:srgbClr val="000000"/>
                </a:solidFill>
                <a:latin typeface="PT Sans Narrow"/>
                <a:ea typeface="PT Sans Narrow"/>
                <a:cs typeface="PT Sans Narrow"/>
                <a:sym typeface="PT Sans Narrow"/>
              </a:rPr>
              <a:t>Visual search</a:t>
            </a:r>
            <a:endParaRPr sz="2000">
              <a:solidFill>
                <a:srgbClr val="000000"/>
              </a:solidFill>
              <a:latin typeface="PT Sans Narrow"/>
              <a:ea typeface="PT Sans Narrow"/>
              <a:cs typeface="PT Sans Narrow"/>
              <a:sym typeface="PT Sans Narrow"/>
            </a:endParaRPr>
          </a:p>
          <a:p>
            <a:pPr indent="-355600" lvl="0" marL="457200" rtl="0" algn="l">
              <a:spcBef>
                <a:spcPts val="0"/>
              </a:spcBef>
              <a:spcAft>
                <a:spcPts val="0"/>
              </a:spcAft>
              <a:buClr>
                <a:srgbClr val="000000"/>
              </a:buClr>
              <a:buSzPts val="2000"/>
              <a:buFont typeface="PT Sans Narrow"/>
              <a:buChar char="●"/>
            </a:pPr>
            <a:r>
              <a:rPr lang="en-GB" sz="2000">
                <a:solidFill>
                  <a:srgbClr val="000000"/>
                </a:solidFill>
                <a:latin typeface="PT Sans Narrow"/>
                <a:ea typeface="PT Sans Narrow"/>
                <a:cs typeface="PT Sans Narrow"/>
                <a:sym typeface="PT Sans Narrow"/>
              </a:rPr>
              <a:t>Similar-item matching</a:t>
            </a:r>
            <a:endParaRPr sz="2000">
              <a:solidFill>
                <a:srgbClr val="000000"/>
              </a:solidFill>
              <a:latin typeface="PT Sans Narrow"/>
              <a:ea typeface="PT Sans Narrow"/>
              <a:cs typeface="PT Sans Narrow"/>
              <a:sym typeface="PT Sans Narrow"/>
            </a:endParaRPr>
          </a:p>
          <a:p>
            <a:pPr indent="0" lvl="0" marL="0" rtl="0" algn="l">
              <a:spcBef>
                <a:spcPts val="1200"/>
              </a:spcBef>
              <a:spcAft>
                <a:spcPts val="0"/>
              </a:spcAft>
              <a:buNone/>
            </a:pPr>
            <a:r>
              <a:rPr b="1" lang="en-GB" sz="2000">
                <a:solidFill>
                  <a:srgbClr val="000000"/>
                </a:solidFill>
                <a:latin typeface="PT Sans Narrow"/>
                <a:ea typeface="PT Sans Narrow"/>
                <a:cs typeface="PT Sans Narrow"/>
                <a:sym typeface="PT Sans Narrow"/>
              </a:rPr>
              <a:t>2. Automation &amp; Inventory</a:t>
            </a:r>
            <a:endParaRPr b="1" sz="2000">
              <a:solidFill>
                <a:srgbClr val="000000"/>
              </a:solidFill>
              <a:latin typeface="PT Sans Narrow"/>
              <a:ea typeface="PT Sans Narrow"/>
              <a:cs typeface="PT Sans Narrow"/>
              <a:sym typeface="PT Sans Narrow"/>
            </a:endParaRPr>
          </a:p>
          <a:p>
            <a:pPr indent="-355600" lvl="0" marL="457200" rtl="0" algn="l">
              <a:spcBef>
                <a:spcPts val="1200"/>
              </a:spcBef>
              <a:spcAft>
                <a:spcPts val="0"/>
              </a:spcAft>
              <a:buClr>
                <a:srgbClr val="000000"/>
              </a:buClr>
              <a:buSzPts val="2000"/>
              <a:buFont typeface="PT Sans Narrow"/>
              <a:buChar char="●"/>
            </a:pPr>
            <a:r>
              <a:rPr lang="en-GB" sz="2000">
                <a:solidFill>
                  <a:srgbClr val="000000"/>
                </a:solidFill>
                <a:latin typeface="PT Sans Narrow"/>
                <a:ea typeface="PT Sans Narrow"/>
                <a:cs typeface="PT Sans Narrow"/>
                <a:sym typeface="PT Sans Narrow"/>
              </a:rPr>
              <a:t>Catalog labeling</a:t>
            </a:r>
            <a:endParaRPr sz="2000">
              <a:solidFill>
                <a:srgbClr val="000000"/>
              </a:solidFill>
              <a:latin typeface="PT Sans Narrow"/>
              <a:ea typeface="PT Sans Narrow"/>
              <a:cs typeface="PT Sans Narrow"/>
              <a:sym typeface="PT Sans Narrow"/>
            </a:endParaRPr>
          </a:p>
          <a:p>
            <a:pPr indent="-355600" lvl="0" marL="457200" rtl="0" algn="l">
              <a:spcBef>
                <a:spcPts val="0"/>
              </a:spcBef>
              <a:spcAft>
                <a:spcPts val="0"/>
              </a:spcAft>
              <a:buClr>
                <a:srgbClr val="000000"/>
              </a:buClr>
              <a:buSzPts val="2000"/>
              <a:buFont typeface="PT Sans Narrow"/>
              <a:buChar char="●"/>
            </a:pPr>
            <a:r>
              <a:rPr lang="en-GB" sz="2000">
                <a:solidFill>
                  <a:srgbClr val="000000"/>
                </a:solidFill>
                <a:latin typeface="PT Sans Narrow"/>
                <a:ea typeface="PT Sans Narrow"/>
                <a:cs typeface="PT Sans Narrow"/>
                <a:sym typeface="PT Sans Narrow"/>
              </a:rPr>
              <a:t>Warehouse sorting</a:t>
            </a:r>
            <a:endParaRPr sz="2000">
              <a:solidFill>
                <a:srgbClr val="000000"/>
              </a:solidFill>
              <a:latin typeface="PT Sans Narrow"/>
              <a:ea typeface="PT Sans Narrow"/>
              <a:cs typeface="PT Sans Narrow"/>
              <a:sym typeface="PT Sans Narrow"/>
            </a:endParaRPr>
          </a:p>
          <a:p>
            <a:pPr indent="-355600" lvl="0" marL="457200" rtl="0" algn="l">
              <a:spcBef>
                <a:spcPts val="0"/>
              </a:spcBef>
              <a:spcAft>
                <a:spcPts val="0"/>
              </a:spcAft>
              <a:buClr>
                <a:srgbClr val="000000"/>
              </a:buClr>
              <a:buSzPts val="2000"/>
              <a:buFont typeface="PT Sans Narrow"/>
              <a:buChar char="●"/>
            </a:pPr>
            <a:r>
              <a:rPr lang="en-GB" sz="2000">
                <a:solidFill>
                  <a:srgbClr val="000000"/>
                </a:solidFill>
                <a:latin typeface="PT Sans Narrow"/>
                <a:ea typeface="PT Sans Narrow"/>
                <a:cs typeface="PT Sans Narrow"/>
                <a:sym typeface="PT Sans Narrow"/>
              </a:rPr>
              <a:t>Retail tracking</a:t>
            </a:r>
            <a:endParaRPr sz="2000">
              <a:solidFill>
                <a:srgbClr val="000000"/>
              </a:solidFill>
              <a:latin typeface="PT Sans Narrow"/>
              <a:ea typeface="PT Sans Narrow"/>
              <a:cs typeface="PT Sans Narrow"/>
              <a:sym typeface="PT Sans Narrow"/>
            </a:endParaRPr>
          </a:p>
          <a:p>
            <a:pPr indent="0" lvl="0" marL="0" rtl="0" algn="l">
              <a:spcBef>
                <a:spcPts val="1200"/>
              </a:spcBef>
              <a:spcAft>
                <a:spcPts val="1200"/>
              </a:spcAft>
              <a:buNone/>
            </a:pPr>
            <a:r>
              <a:t/>
            </a:r>
            <a:endParaRPr sz="1600"/>
          </a:p>
        </p:txBody>
      </p:sp>
      <p:sp>
        <p:nvSpPr>
          <p:cNvPr id="80" name="Google Shape;80;p15"/>
          <p:cNvSpPr txBox="1"/>
          <p:nvPr>
            <p:ph idx="1" type="body"/>
          </p:nvPr>
        </p:nvSpPr>
        <p:spPr>
          <a:xfrm>
            <a:off x="4882525" y="1283166"/>
            <a:ext cx="4197900" cy="3031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t/>
            </a:r>
            <a:endParaRPr sz="1600">
              <a:solidFill>
                <a:srgbClr val="000000"/>
              </a:solidFill>
              <a:latin typeface="PT Sans Narrow"/>
              <a:ea typeface="PT Sans Narrow"/>
              <a:cs typeface="PT Sans Narrow"/>
              <a:sym typeface="PT Sans Narrow"/>
            </a:endParaRPr>
          </a:p>
          <a:p>
            <a:pPr indent="0" lvl="0" marL="0" rtl="0" algn="l">
              <a:spcBef>
                <a:spcPts val="1200"/>
              </a:spcBef>
              <a:spcAft>
                <a:spcPts val="0"/>
              </a:spcAft>
              <a:buNone/>
            </a:pPr>
            <a:r>
              <a:rPr b="1" lang="en-GB" sz="1800">
                <a:solidFill>
                  <a:srgbClr val="000000"/>
                </a:solidFill>
                <a:latin typeface="PT Sans Narrow"/>
                <a:ea typeface="PT Sans Narrow"/>
                <a:cs typeface="PT Sans Narrow"/>
                <a:sym typeface="PT Sans Narrow"/>
              </a:rPr>
              <a:t>3. AR &amp; Environment</a:t>
            </a:r>
            <a:endParaRPr b="1" sz="1800">
              <a:solidFill>
                <a:srgbClr val="000000"/>
              </a:solidFill>
              <a:latin typeface="PT Sans Narrow"/>
              <a:ea typeface="PT Sans Narrow"/>
              <a:cs typeface="PT Sans Narrow"/>
              <a:sym typeface="PT Sans Narrow"/>
            </a:endParaRPr>
          </a:p>
          <a:p>
            <a:pPr indent="-342900" lvl="0" marL="457200" rtl="0" algn="l">
              <a:spcBef>
                <a:spcPts val="1200"/>
              </a:spcBef>
              <a:spcAft>
                <a:spcPts val="0"/>
              </a:spcAft>
              <a:buClr>
                <a:srgbClr val="000000"/>
              </a:buClr>
              <a:buSzPts val="1800"/>
              <a:buFont typeface="PT Sans Narrow"/>
              <a:buChar char="●"/>
            </a:pPr>
            <a:r>
              <a:rPr lang="en-GB" sz="1800">
                <a:solidFill>
                  <a:srgbClr val="000000"/>
                </a:solidFill>
                <a:latin typeface="PT Sans Narrow"/>
                <a:ea typeface="PT Sans Narrow"/>
                <a:cs typeface="PT Sans Narrow"/>
                <a:sym typeface="PT Sans Narrow"/>
              </a:rPr>
              <a:t>Virtual try-on</a:t>
            </a:r>
            <a:endParaRPr sz="1800">
              <a:solidFill>
                <a:srgbClr val="000000"/>
              </a:solidFill>
              <a:latin typeface="PT Sans Narrow"/>
              <a:ea typeface="PT Sans Narrow"/>
              <a:cs typeface="PT Sans Narrow"/>
              <a:sym typeface="PT Sans Narrow"/>
            </a:endParaRPr>
          </a:p>
          <a:p>
            <a:pPr indent="-342900" lvl="0" marL="457200" rtl="0" algn="l">
              <a:spcBef>
                <a:spcPts val="0"/>
              </a:spcBef>
              <a:spcAft>
                <a:spcPts val="0"/>
              </a:spcAft>
              <a:buClr>
                <a:srgbClr val="000000"/>
              </a:buClr>
              <a:buSzPts val="1800"/>
              <a:buFont typeface="PT Sans Narrow"/>
              <a:buChar char="●"/>
            </a:pPr>
            <a:r>
              <a:rPr lang="en-GB" sz="1800">
                <a:solidFill>
                  <a:srgbClr val="000000"/>
                </a:solidFill>
                <a:latin typeface="PT Sans Narrow"/>
                <a:ea typeface="PT Sans Narrow"/>
                <a:cs typeface="PT Sans Narrow"/>
                <a:sym typeface="PT Sans Narrow"/>
              </a:rPr>
              <a:t>Smart home sensing</a:t>
            </a:r>
            <a:endParaRPr sz="1800">
              <a:solidFill>
                <a:srgbClr val="000000"/>
              </a:solidFill>
              <a:latin typeface="PT Sans Narrow"/>
              <a:ea typeface="PT Sans Narrow"/>
              <a:cs typeface="PT Sans Narrow"/>
              <a:sym typeface="PT Sans Narrow"/>
            </a:endParaRPr>
          </a:p>
          <a:p>
            <a:pPr indent="-342900" lvl="0" marL="457200" rtl="0" algn="l">
              <a:spcBef>
                <a:spcPts val="0"/>
              </a:spcBef>
              <a:spcAft>
                <a:spcPts val="0"/>
              </a:spcAft>
              <a:buClr>
                <a:srgbClr val="000000"/>
              </a:buClr>
              <a:buSzPts val="1800"/>
              <a:buFont typeface="PT Sans Narrow"/>
              <a:buChar char="●"/>
            </a:pPr>
            <a:r>
              <a:rPr lang="en-GB" sz="1800">
                <a:solidFill>
                  <a:srgbClr val="000000"/>
                </a:solidFill>
                <a:latin typeface="PT Sans Narrow"/>
                <a:ea typeface="PT Sans Narrow"/>
                <a:cs typeface="PT Sans Narrow"/>
                <a:sym typeface="PT Sans Narrow"/>
              </a:rPr>
              <a:t>Clothing-aware interfaces</a:t>
            </a:r>
            <a:br>
              <a:rPr lang="en-GB" sz="1800">
                <a:solidFill>
                  <a:srgbClr val="000000"/>
                </a:solidFill>
                <a:latin typeface="PT Sans Narrow"/>
                <a:ea typeface="PT Sans Narrow"/>
                <a:cs typeface="PT Sans Narrow"/>
                <a:sym typeface="PT Sans Narrow"/>
              </a:rPr>
            </a:br>
            <a:endParaRPr sz="1800">
              <a:solidFill>
                <a:srgbClr val="000000"/>
              </a:solidFill>
              <a:latin typeface="PT Sans Narrow"/>
              <a:ea typeface="PT Sans Narrow"/>
              <a:cs typeface="PT Sans Narrow"/>
              <a:sym typeface="PT Sans Narrow"/>
            </a:endParaRPr>
          </a:p>
          <a:p>
            <a:pPr indent="0" lvl="0" marL="0" rtl="0" algn="l">
              <a:spcBef>
                <a:spcPts val="1200"/>
              </a:spcBef>
              <a:spcAft>
                <a:spcPts val="1200"/>
              </a:spcAft>
              <a:buNone/>
            </a:pPr>
            <a:r>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did we do and compare to </a:t>
            </a:r>
            <a:r>
              <a:rPr lang="en-GB"/>
              <a:t>what's</a:t>
            </a:r>
            <a:r>
              <a:rPr lang="en-GB"/>
              <a:t> done</a:t>
            </a:r>
            <a:endParaRPr/>
          </a:p>
        </p:txBody>
      </p:sp>
      <p:sp>
        <p:nvSpPr>
          <p:cNvPr id="86" name="Google Shape;86;p16"/>
          <p:cNvSpPr txBox="1"/>
          <p:nvPr>
            <p:ph idx="1" type="body"/>
          </p:nvPr>
        </p:nvSpPr>
        <p:spPr>
          <a:xfrm>
            <a:off x="311700" y="1266175"/>
            <a:ext cx="3999900" cy="330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800">
                <a:solidFill>
                  <a:srgbClr val="1F1F1F"/>
                </a:solidFill>
                <a:latin typeface="PT Sans Narrow"/>
                <a:ea typeface="PT Sans Narrow"/>
                <a:cs typeface="PT Sans Narrow"/>
                <a:sym typeface="PT Sans Narrow"/>
              </a:rPr>
              <a:t>T</a:t>
            </a:r>
            <a:r>
              <a:rPr lang="en-GB" sz="1800">
                <a:solidFill>
                  <a:srgbClr val="1F1F1F"/>
                </a:solidFill>
                <a:latin typeface="PT Sans Narrow"/>
                <a:ea typeface="PT Sans Narrow"/>
                <a:cs typeface="PT Sans Narrow"/>
                <a:sym typeface="PT Sans Narrow"/>
              </a:rPr>
              <a:t>ypical approach:</a:t>
            </a:r>
            <a:endParaRPr sz="1800">
              <a:solidFill>
                <a:srgbClr val="1F1F1F"/>
              </a:solidFill>
              <a:latin typeface="PT Sans Narrow"/>
              <a:ea typeface="PT Sans Narrow"/>
              <a:cs typeface="PT Sans Narrow"/>
              <a:sym typeface="PT Sans Narrow"/>
            </a:endParaRPr>
          </a:p>
          <a:p>
            <a:pPr indent="-342900" lvl="0" marL="457200" rtl="0" algn="l">
              <a:spcBef>
                <a:spcPts val="1200"/>
              </a:spcBef>
              <a:spcAft>
                <a:spcPts val="0"/>
              </a:spcAft>
              <a:buClr>
                <a:srgbClr val="1F1F1F"/>
              </a:buClr>
              <a:buSzPts val="1800"/>
              <a:buFont typeface="PT Sans Narrow"/>
              <a:buChar char="●"/>
            </a:pPr>
            <a:r>
              <a:rPr lang="en-GB" sz="1800">
                <a:solidFill>
                  <a:srgbClr val="1F1F1F"/>
                </a:solidFill>
                <a:latin typeface="PT Sans Narrow"/>
                <a:ea typeface="PT Sans Narrow"/>
                <a:cs typeface="PT Sans Narrow"/>
                <a:sym typeface="PT Sans Narrow"/>
              </a:rPr>
              <a:t>Binary classifiers (One-vs-Rest)</a:t>
            </a:r>
            <a:endParaRPr sz="1800">
              <a:solidFill>
                <a:srgbClr val="1F1F1F"/>
              </a:solidFill>
              <a:latin typeface="PT Sans Narrow"/>
              <a:ea typeface="PT Sans Narrow"/>
              <a:cs typeface="PT Sans Narrow"/>
              <a:sym typeface="PT Sans Narrow"/>
            </a:endParaRPr>
          </a:p>
          <a:p>
            <a:pPr indent="-342900" lvl="0" marL="457200" rtl="0" algn="l">
              <a:spcBef>
                <a:spcPts val="0"/>
              </a:spcBef>
              <a:spcAft>
                <a:spcPts val="0"/>
              </a:spcAft>
              <a:buClr>
                <a:srgbClr val="1F1F1F"/>
              </a:buClr>
              <a:buSzPts val="1800"/>
              <a:buFont typeface="PT Sans Narrow"/>
              <a:buChar char="●"/>
            </a:pPr>
            <a:r>
              <a:rPr lang="en-GB" sz="1800">
                <a:solidFill>
                  <a:srgbClr val="1F1F1F"/>
                </a:solidFill>
                <a:latin typeface="PT Sans Narrow"/>
                <a:ea typeface="PT Sans Narrow"/>
                <a:cs typeface="PT Sans Narrow"/>
                <a:sym typeface="PT Sans Narrow"/>
              </a:rPr>
              <a:t>Uses raw pixel values</a:t>
            </a:r>
            <a:endParaRPr sz="1800">
              <a:solidFill>
                <a:srgbClr val="1F1F1F"/>
              </a:solidFill>
              <a:latin typeface="PT Sans Narrow"/>
              <a:ea typeface="PT Sans Narrow"/>
              <a:cs typeface="PT Sans Narrow"/>
              <a:sym typeface="PT Sans Narrow"/>
            </a:endParaRPr>
          </a:p>
          <a:p>
            <a:pPr indent="-342900" lvl="0" marL="457200" rtl="0" algn="l">
              <a:spcBef>
                <a:spcPts val="0"/>
              </a:spcBef>
              <a:spcAft>
                <a:spcPts val="0"/>
              </a:spcAft>
              <a:buClr>
                <a:srgbClr val="1F1F1F"/>
              </a:buClr>
              <a:buSzPts val="1800"/>
              <a:buFont typeface="PT Sans Narrow"/>
              <a:buChar char="●"/>
            </a:pPr>
            <a:r>
              <a:rPr lang="en-GB" sz="1800">
                <a:solidFill>
                  <a:srgbClr val="1F1F1F"/>
                </a:solidFill>
                <a:latin typeface="PT Sans Narrow"/>
                <a:ea typeface="PT Sans Narrow"/>
                <a:cs typeface="PT Sans Narrow"/>
                <a:sym typeface="PT Sans Narrow"/>
              </a:rPr>
              <a:t>Limited performance, not very flexible</a:t>
            </a:r>
            <a:endParaRPr sz="1800">
              <a:solidFill>
                <a:srgbClr val="1F1F1F"/>
              </a:solidFill>
              <a:latin typeface="PT Sans Narrow"/>
              <a:ea typeface="PT Sans Narrow"/>
              <a:cs typeface="PT Sans Narrow"/>
              <a:sym typeface="PT Sans Narrow"/>
            </a:endParaRPr>
          </a:p>
          <a:p>
            <a:pPr indent="0" lvl="0" marL="0" rtl="0" algn="l">
              <a:spcBef>
                <a:spcPts val="1200"/>
              </a:spcBef>
              <a:spcAft>
                <a:spcPts val="0"/>
              </a:spcAft>
              <a:buNone/>
            </a:pPr>
            <a:r>
              <a:rPr lang="en-GB" sz="1800">
                <a:solidFill>
                  <a:srgbClr val="1F1F1F"/>
                </a:solidFill>
                <a:latin typeface="PT Sans Narrow"/>
                <a:ea typeface="PT Sans Narrow"/>
                <a:cs typeface="PT Sans Narrow"/>
                <a:sym typeface="PT Sans Narrow"/>
              </a:rPr>
              <a:t>What we added:</a:t>
            </a:r>
            <a:endParaRPr sz="1800">
              <a:solidFill>
                <a:srgbClr val="1F1F1F"/>
              </a:solidFill>
              <a:latin typeface="PT Sans Narrow"/>
              <a:ea typeface="PT Sans Narrow"/>
              <a:cs typeface="PT Sans Narrow"/>
              <a:sym typeface="PT Sans Narrow"/>
            </a:endParaRPr>
          </a:p>
          <a:p>
            <a:pPr indent="-342900" lvl="0" marL="457200" rtl="0" algn="l">
              <a:spcBef>
                <a:spcPts val="1200"/>
              </a:spcBef>
              <a:spcAft>
                <a:spcPts val="0"/>
              </a:spcAft>
              <a:buClr>
                <a:srgbClr val="1F1F1F"/>
              </a:buClr>
              <a:buSzPts val="1800"/>
              <a:buFont typeface="PT Sans Narrow"/>
              <a:buChar char="●"/>
            </a:pPr>
            <a:r>
              <a:rPr lang="en-GB" sz="1800">
                <a:solidFill>
                  <a:srgbClr val="1F1F1F"/>
                </a:solidFill>
                <a:latin typeface="PT Sans Narrow"/>
                <a:ea typeface="PT Sans Narrow"/>
                <a:cs typeface="PT Sans Narrow"/>
                <a:sym typeface="PT Sans Narrow"/>
              </a:rPr>
              <a:t>Softmax logistic regression</a:t>
            </a:r>
            <a:endParaRPr sz="1800">
              <a:solidFill>
                <a:srgbClr val="1F1F1F"/>
              </a:solidFill>
              <a:latin typeface="PT Sans Narrow"/>
              <a:ea typeface="PT Sans Narrow"/>
              <a:cs typeface="PT Sans Narrow"/>
              <a:sym typeface="PT Sans Narrow"/>
            </a:endParaRPr>
          </a:p>
          <a:p>
            <a:pPr indent="-342900" lvl="0" marL="457200" rtl="0" algn="l">
              <a:spcBef>
                <a:spcPts val="0"/>
              </a:spcBef>
              <a:spcAft>
                <a:spcPts val="0"/>
              </a:spcAft>
              <a:buClr>
                <a:srgbClr val="1F1F1F"/>
              </a:buClr>
              <a:buSzPts val="1800"/>
              <a:buFont typeface="PT Sans Narrow"/>
              <a:buChar char="●"/>
            </a:pPr>
            <a:r>
              <a:rPr lang="en-GB" sz="1800">
                <a:solidFill>
                  <a:srgbClr val="1F1F1F"/>
                </a:solidFill>
                <a:latin typeface="PT Sans Narrow"/>
                <a:ea typeface="PT Sans Narrow"/>
                <a:cs typeface="PT Sans Narrow"/>
                <a:sym typeface="PT Sans Narrow"/>
              </a:rPr>
              <a:t>PCA feature reduction</a:t>
            </a:r>
            <a:endParaRPr sz="1800">
              <a:solidFill>
                <a:srgbClr val="1F1F1F"/>
              </a:solidFill>
              <a:latin typeface="PT Sans Narrow"/>
              <a:ea typeface="PT Sans Narrow"/>
              <a:cs typeface="PT Sans Narrow"/>
              <a:sym typeface="PT Sans Narrow"/>
            </a:endParaRPr>
          </a:p>
          <a:p>
            <a:pPr indent="-342900" lvl="0" marL="457200" rtl="0" algn="l">
              <a:spcBef>
                <a:spcPts val="0"/>
              </a:spcBef>
              <a:spcAft>
                <a:spcPts val="0"/>
              </a:spcAft>
              <a:buClr>
                <a:srgbClr val="1F1F1F"/>
              </a:buClr>
              <a:buSzPts val="1800"/>
              <a:buFont typeface="PT Sans Narrow"/>
              <a:buChar char="●"/>
            </a:pPr>
            <a:r>
              <a:rPr lang="en-GB" sz="1800">
                <a:solidFill>
                  <a:srgbClr val="1F1F1F"/>
                </a:solidFill>
                <a:latin typeface="PT Sans Narrow"/>
                <a:ea typeface="PT Sans Narrow"/>
                <a:cs typeface="PT Sans Narrow"/>
                <a:sym typeface="PT Sans Narrow"/>
              </a:rPr>
              <a:t>RBF feature mapping is an alternative</a:t>
            </a:r>
            <a:endParaRPr sz="1800">
              <a:solidFill>
                <a:srgbClr val="1F1F1F"/>
              </a:solidFill>
              <a:latin typeface="PT Sans Narrow"/>
              <a:ea typeface="PT Sans Narrow"/>
              <a:cs typeface="PT Sans Narrow"/>
              <a:sym typeface="PT Sans Narrow"/>
            </a:endParaRPr>
          </a:p>
          <a:p>
            <a:pPr indent="0" lvl="0" marL="0" rtl="0" algn="l">
              <a:spcBef>
                <a:spcPts val="1200"/>
              </a:spcBef>
              <a:spcAft>
                <a:spcPts val="1200"/>
              </a:spcAft>
              <a:buClr>
                <a:schemeClr val="dk1"/>
              </a:buClr>
              <a:buSzPts val="1100"/>
              <a:buFont typeface="Arial"/>
              <a:buNone/>
            </a:pPr>
            <a:r>
              <a:t/>
            </a:r>
            <a:endParaRPr/>
          </a:p>
        </p:txBody>
      </p:sp>
      <p:sp>
        <p:nvSpPr>
          <p:cNvPr id="87" name="Google Shape;87;p16"/>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800">
                <a:solidFill>
                  <a:srgbClr val="1F1F1F"/>
                </a:solidFill>
                <a:latin typeface="PT Sans Narrow"/>
                <a:ea typeface="PT Sans Narrow"/>
                <a:cs typeface="PT Sans Narrow"/>
                <a:sym typeface="PT Sans Narrow"/>
              </a:rPr>
              <a:t>Why it helps:</a:t>
            </a:r>
            <a:endParaRPr sz="1800">
              <a:solidFill>
                <a:srgbClr val="1F1F1F"/>
              </a:solidFill>
              <a:latin typeface="PT Sans Narrow"/>
              <a:ea typeface="PT Sans Narrow"/>
              <a:cs typeface="PT Sans Narrow"/>
              <a:sym typeface="PT Sans Narrow"/>
            </a:endParaRPr>
          </a:p>
          <a:p>
            <a:pPr indent="-342900" lvl="0" marL="457200" rtl="0" algn="l">
              <a:spcBef>
                <a:spcPts val="1200"/>
              </a:spcBef>
              <a:spcAft>
                <a:spcPts val="0"/>
              </a:spcAft>
              <a:buClr>
                <a:srgbClr val="1F1F1F"/>
              </a:buClr>
              <a:buSzPts val="1800"/>
              <a:buFont typeface="PT Sans Narrow"/>
              <a:buChar char="●"/>
            </a:pPr>
            <a:r>
              <a:rPr lang="en-GB" sz="1800">
                <a:solidFill>
                  <a:srgbClr val="1F1F1F"/>
                </a:solidFill>
                <a:latin typeface="PT Sans Narrow"/>
                <a:ea typeface="PT Sans Narrow"/>
                <a:cs typeface="PT Sans Narrow"/>
                <a:sym typeface="PT Sans Narrow"/>
              </a:rPr>
              <a:t>Softmax handles all 10 classes at once</a:t>
            </a:r>
            <a:endParaRPr sz="1800">
              <a:solidFill>
                <a:srgbClr val="1F1F1F"/>
              </a:solidFill>
              <a:latin typeface="PT Sans Narrow"/>
              <a:ea typeface="PT Sans Narrow"/>
              <a:cs typeface="PT Sans Narrow"/>
              <a:sym typeface="PT Sans Narrow"/>
            </a:endParaRPr>
          </a:p>
          <a:p>
            <a:pPr indent="-342900" lvl="0" marL="457200" rtl="0" algn="l">
              <a:spcBef>
                <a:spcPts val="0"/>
              </a:spcBef>
              <a:spcAft>
                <a:spcPts val="0"/>
              </a:spcAft>
              <a:buClr>
                <a:srgbClr val="1F1F1F"/>
              </a:buClr>
              <a:buSzPts val="1800"/>
              <a:buFont typeface="PT Sans Narrow"/>
              <a:buChar char="●"/>
            </a:pPr>
            <a:r>
              <a:rPr lang="en-GB" sz="1800">
                <a:solidFill>
                  <a:srgbClr val="1F1F1F"/>
                </a:solidFill>
                <a:latin typeface="PT Sans Narrow"/>
                <a:ea typeface="PT Sans Narrow"/>
                <a:cs typeface="PT Sans Narrow"/>
                <a:sym typeface="PT Sans Narrow"/>
              </a:rPr>
              <a:t>PCA reduces noise and speeds training</a:t>
            </a:r>
            <a:endParaRPr sz="1800">
              <a:solidFill>
                <a:srgbClr val="1F1F1F"/>
              </a:solidFill>
              <a:latin typeface="PT Sans Narrow"/>
              <a:ea typeface="PT Sans Narrow"/>
              <a:cs typeface="PT Sans Narrow"/>
              <a:sym typeface="PT Sans Narrow"/>
            </a:endParaRPr>
          </a:p>
          <a:p>
            <a:pPr indent="-342900" lvl="0" marL="457200" rtl="0" algn="l">
              <a:spcBef>
                <a:spcPts val="0"/>
              </a:spcBef>
              <a:spcAft>
                <a:spcPts val="0"/>
              </a:spcAft>
              <a:buClr>
                <a:srgbClr val="1F1F1F"/>
              </a:buClr>
              <a:buSzPts val="1800"/>
              <a:buFont typeface="PT Sans Narrow"/>
              <a:buChar char="●"/>
            </a:pPr>
            <a:r>
              <a:rPr lang="en-GB" sz="1800">
                <a:solidFill>
                  <a:srgbClr val="1F1F1F"/>
                </a:solidFill>
                <a:latin typeface="PT Sans Narrow"/>
                <a:ea typeface="PT Sans Narrow"/>
                <a:cs typeface="PT Sans Narrow"/>
                <a:sym typeface="PT Sans Narrow"/>
              </a:rPr>
              <a:t>RBF adds nonlinearity for harder cases</a:t>
            </a:r>
            <a:endParaRPr sz="1800">
              <a:solidFill>
                <a:srgbClr val="1F1F1F"/>
              </a:solidFill>
              <a:latin typeface="PT Sans Narrow"/>
              <a:ea typeface="PT Sans Narrow"/>
              <a:cs typeface="PT Sans Narrow"/>
              <a:sym typeface="PT Sans Narro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Results - PCA </a:t>
            </a:r>
            <a:endParaRPr/>
          </a:p>
        </p:txBody>
      </p:sp>
      <p:sp>
        <p:nvSpPr>
          <p:cNvPr id="93" name="Google Shape;93;p17"/>
          <p:cNvSpPr txBox="1"/>
          <p:nvPr>
            <p:ph idx="1" type="body"/>
          </p:nvPr>
        </p:nvSpPr>
        <p:spPr>
          <a:xfrm>
            <a:off x="311700" y="1266175"/>
            <a:ext cx="3999900" cy="3351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1F1F1F"/>
              </a:buClr>
              <a:buSzPts val="1800"/>
              <a:buFont typeface="PT Sans Narrow"/>
              <a:buChar char="●"/>
            </a:pPr>
            <a:r>
              <a:rPr b="1" lang="en-GB" sz="1800">
                <a:solidFill>
                  <a:srgbClr val="1F1F1F"/>
                </a:solidFill>
                <a:latin typeface="PT Sans Narrow"/>
                <a:ea typeface="PT Sans Narrow"/>
                <a:cs typeface="PT Sans Narrow"/>
                <a:sym typeface="PT Sans Narrow"/>
              </a:rPr>
              <a:t>Accuracy Improvement: </a:t>
            </a:r>
            <a:r>
              <a:rPr lang="en-GB" sz="1800">
                <a:solidFill>
                  <a:srgbClr val="1F1F1F"/>
                </a:solidFill>
                <a:latin typeface="PT Sans Narrow"/>
                <a:ea typeface="PT Sans Narrow"/>
                <a:cs typeface="PT Sans Narrow"/>
                <a:sym typeface="PT Sans Narrow"/>
              </a:rPr>
              <a:t>Softmax Model significantly outperforms One-vs-Rest model</a:t>
            </a:r>
            <a:endParaRPr sz="1800">
              <a:solidFill>
                <a:srgbClr val="1F1F1F"/>
              </a:solidFill>
              <a:latin typeface="PT Sans Narrow"/>
              <a:ea typeface="PT Sans Narrow"/>
              <a:cs typeface="PT Sans Narrow"/>
              <a:sym typeface="PT Sans Narrow"/>
            </a:endParaRPr>
          </a:p>
          <a:p>
            <a:pPr indent="-342900" lvl="1" marL="914400" rtl="0" algn="l">
              <a:spcBef>
                <a:spcPts val="0"/>
              </a:spcBef>
              <a:spcAft>
                <a:spcPts val="0"/>
              </a:spcAft>
              <a:buClr>
                <a:srgbClr val="1F1F1F"/>
              </a:buClr>
              <a:buSzPts val="1800"/>
              <a:buFont typeface="PT Sans Narrow"/>
              <a:buChar char="○"/>
            </a:pPr>
            <a:r>
              <a:rPr lang="en-GB" sz="1800">
                <a:solidFill>
                  <a:srgbClr val="1F1F1F"/>
                </a:solidFill>
                <a:latin typeface="PT Sans Narrow"/>
                <a:ea typeface="PT Sans Narrow"/>
                <a:cs typeface="PT Sans Narrow"/>
                <a:sym typeface="PT Sans Narrow"/>
              </a:rPr>
              <a:t>83.7% with 200 PCs</a:t>
            </a:r>
            <a:endParaRPr sz="1800">
              <a:solidFill>
                <a:srgbClr val="1F1F1F"/>
              </a:solidFill>
              <a:latin typeface="PT Sans Narrow"/>
              <a:ea typeface="PT Sans Narrow"/>
              <a:cs typeface="PT Sans Narrow"/>
              <a:sym typeface="PT Sans Narrow"/>
            </a:endParaRPr>
          </a:p>
          <a:p>
            <a:pPr indent="0" lvl="0" marL="0" rtl="0" algn="l">
              <a:spcBef>
                <a:spcPts val="1200"/>
              </a:spcBef>
              <a:spcAft>
                <a:spcPts val="0"/>
              </a:spcAft>
              <a:buNone/>
            </a:pPr>
            <a:r>
              <a:t/>
            </a:r>
            <a:endParaRPr sz="1800">
              <a:solidFill>
                <a:srgbClr val="1F1F1F"/>
              </a:solidFill>
              <a:latin typeface="PT Sans Narrow"/>
              <a:ea typeface="PT Sans Narrow"/>
              <a:cs typeface="PT Sans Narrow"/>
              <a:sym typeface="PT Sans Narrow"/>
            </a:endParaRPr>
          </a:p>
          <a:p>
            <a:pPr indent="-342900" lvl="0" marL="457200" rtl="0" algn="l">
              <a:spcBef>
                <a:spcPts val="1200"/>
              </a:spcBef>
              <a:spcAft>
                <a:spcPts val="0"/>
              </a:spcAft>
              <a:buClr>
                <a:srgbClr val="1F1F1F"/>
              </a:buClr>
              <a:buSzPts val="1800"/>
              <a:buFont typeface="PT Sans Narrow"/>
              <a:buChar char="●"/>
            </a:pPr>
            <a:r>
              <a:rPr b="1" lang="en-GB" sz="1800">
                <a:solidFill>
                  <a:srgbClr val="1F1F1F"/>
                </a:solidFill>
                <a:latin typeface="PT Sans Narrow"/>
                <a:ea typeface="PT Sans Narrow"/>
                <a:cs typeface="PT Sans Narrow"/>
                <a:sym typeface="PT Sans Narrow"/>
              </a:rPr>
              <a:t>Computational Efficiency:</a:t>
            </a:r>
            <a:endParaRPr sz="1800">
              <a:solidFill>
                <a:srgbClr val="1F1F1F"/>
              </a:solidFill>
              <a:latin typeface="PT Sans Narrow"/>
              <a:ea typeface="PT Sans Narrow"/>
              <a:cs typeface="PT Sans Narrow"/>
              <a:sym typeface="PT Sans Narrow"/>
            </a:endParaRPr>
          </a:p>
          <a:p>
            <a:pPr indent="-342900" lvl="1" marL="914400" rtl="0" algn="l">
              <a:spcBef>
                <a:spcPts val="0"/>
              </a:spcBef>
              <a:spcAft>
                <a:spcPts val="0"/>
              </a:spcAft>
              <a:buClr>
                <a:srgbClr val="1F1F1F"/>
              </a:buClr>
              <a:buSzPts val="1800"/>
              <a:buFont typeface="PT Sans Narrow"/>
              <a:buChar char="○"/>
            </a:pPr>
            <a:r>
              <a:rPr lang="en-GB" sz="1800">
                <a:solidFill>
                  <a:srgbClr val="1F1F1F"/>
                </a:solidFill>
                <a:latin typeface="PT Sans Narrow"/>
                <a:ea typeface="PT Sans Narrow"/>
                <a:cs typeface="PT Sans Narrow"/>
                <a:sym typeface="PT Sans Narrow"/>
              </a:rPr>
              <a:t>OvR Training: 1328 s → 408 s</a:t>
            </a:r>
            <a:endParaRPr sz="1800">
              <a:solidFill>
                <a:srgbClr val="1F1F1F"/>
              </a:solidFill>
              <a:latin typeface="PT Sans Narrow"/>
              <a:ea typeface="PT Sans Narrow"/>
              <a:cs typeface="PT Sans Narrow"/>
              <a:sym typeface="PT Sans Narrow"/>
            </a:endParaRPr>
          </a:p>
          <a:p>
            <a:pPr indent="0" lvl="0" marL="457200" rtl="0" algn="l">
              <a:spcBef>
                <a:spcPts val="1200"/>
              </a:spcBef>
              <a:spcAft>
                <a:spcPts val="0"/>
              </a:spcAft>
              <a:buNone/>
            </a:pPr>
            <a:r>
              <a:t/>
            </a:r>
            <a:endParaRPr sz="1800">
              <a:solidFill>
                <a:srgbClr val="1F1F1F"/>
              </a:solidFill>
              <a:latin typeface="PT Sans Narrow"/>
              <a:ea typeface="PT Sans Narrow"/>
              <a:cs typeface="PT Sans Narrow"/>
              <a:sym typeface="PT Sans Narrow"/>
            </a:endParaRPr>
          </a:p>
          <a:p>
            <a:pPr indent="0" lvl="0" marL="0" rtl="0" algn="l">
              <a:spcBef>
                <a:spcPts val="1200"/>
              </a:spcBef>
              <a:spcAft>
                <a:spcPts val="1200"/>
              </a:spcAft>
              <a:buNone/>
            </a:pPr>
            <a:r>
              <a:t/>
            </a:r>
            <a:endParaRPr/>
          </a:p>
        </p:txBody>
      </p:sp>
      <p:pic>
        <p:nvPicPr>
          <p:cNvPr id="94" name="Google Shape;94;p17" title="Chart"/>
          <p:cNvPicPr preferRelativeResize="0"/>
          <p:nvPr/>
        </p:nvPicPr>
        <p:blipFill>
          <a:blip r:embed="rId3">
            <a:alphaModFix/>
          </a:blip>
          <a:stretch>
            <a:fillRect/>
          </a:stretch>
        </p:blipFill>
        <p:spPr>
          <a:xfrm>
            <a:off x="4179313" y="1152431"/>
            <a:ext cx="4829175" cy="3443288"/>
          </a:xfrm>
          <a:prstGeom prst="rect">
            <a:avLst/>
          </a:prstGeom>
          <a:noFill/>
          <a:ln>
            <a:noFill/>
          </a:ln>
        </p:spPr>
      </p:pic>
      <p:pic>
        <p:nvPicPr>
          <p:cNvPr id="95" name="Google Shape;95;p17" title="Chart"/>
          <p:cNvPicPr preferRelativeResize="0"/>
          <p:nvPr/>
        </p:nvPicPr>
        <p:blipFill>
          <a:blip r:embed="rId4">
            <a:alphaModFix/>
          </a:blip>
          <a:stretch>
            <a:fillRect/>
          </a:stretch>
        </p:blipFill>
        <p:spPr>
          <a:xfrm>
            <a:off x="4049818" y="1152415"/>
            <a:ext cx="5088177" cy="3351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Demo and Limitations:</a:t>
            </a:r>
            <a:endParaRPr/>
          </a:p>
        </p:txBody>
      </p:sp>
      <p:sp>
        <p:nvSpPr>
          <p:cNvPr id="101" name="Google Shape;101;p18"/>
          <p:cNvSpPr txBox="1"/>
          <p:nvPr>
            <p:ph idx="1" type="body"/>
          </p:nvPr>
        </p:nvSpPr>
        <p:spPr>
          <a:xfrm>
            <a:off x="401950" y="1097150"/>
            <a:ext cx="4936500" cy="3910200"/>
          </a:xfrm>
          <a:prstGeom prst="rect">
            <a:avLst/>
          </a:prstGeom>
        </p:spPr>
        <p:txBody>
          <a:bodyPr anchorCtr="0" anchor="t" bIns="91425" lIns="91425" spcFirstLastPara="1" rIns="91425" wrap="square" tIns="91425">
            <a:normAutofit fontScale="47500" lnSpcReduction="10000"/>
          </a:bodyPr>
          <a:lstStyle/>
          <a:p>
            <a:pPr indent="0" lvl="0" marL="0" rtl="0" algn="l">
              <a:spcBef>
                <a:spcPts val="0"/>
              </a:spcBef>
              <a:spcAft>
                <a:spcPts val="0"/>
              </a:spcAft>
              <a:buNone/>
            </a:pPr>
            <a:r>
              <a:rPr b="1" lang="en-GB" sz="5050">
                <a:solidFill>
                  <a:srgbClr val="000000"/>
                </a:solidFill>
                <a:latin typeface="PT Sans Narrow"/>
                <a:ea typeface="PT Sans Narrow"/>
                <a:cs typeface="PT Sans Narrow"/>
                <a:sym typeface="PT Sans Narrow"/>
              </a:rPr>
              <a:t>Basis and hyperparameters Challenges</a:t>
            </a:r>
            <a:r>
              <a:rPr lang="en-GB" sz="5050">
                <a:solidFill>
                  <a:srgbClr val="000000"/>
                </a:solidFill>
                <a:latin typeface="PT Sans Narrow"/>
                <a:ea typeface="PT Sans Narrow"/>
                <a:cs typeface="PT Sans Narrow"/>
                <a:sym typeface="PT Sans Narrow"/>
              </a:rPr>
              <a:t>:</a:t>
            </a:r>
            <a:r>
              <a:rPr lang="en-GB" sz="5500">
                <a:solidFill>
                  <a:srgbClr val="000000"/>
                </a:solidFill>
                <a:latin typeface="PT Sans Narrow"/>
                <a:ea typeface="PT Sans Narrow"/>
                <a:cs typeface="PT Sans Narrow"/>
                <a:sym typeface="PT Sans Narrow"/>
              </a:rPr>
              <a:t>  </a:t>
            </a:r>
            <a:endParaRPr sz="5500">
              <a:solidFill>
                <a:srgbClr val="000000"/>
              </a:solidFill>
              <a:latin typeface="PT Sans Narrow"/>
              <a:ea typeface="PT Sans Narrow"/>
              <a:cs typeface="PT Sans Narrow"/>
              <a:sym typeface="PT Sans Narrow"/>
            </a:endParaRPr>
          </a:p>
          <a:p>
            <a:pPr indent="0" lvl="0" marL="0" rtl="0" algn="l">
              <a:spcBef>
                <a:spcPts val="1200"/>
              </a:spcBef>
              <a:spcAft>
                <a:spcPts val="0"/>
              </a:spcAft>
              <a:buNone/>
            </a:pPr>
            <a:r>
              <a:rPr lang="en-GB" sz="3960">
                <a:solidFill>
                  <a:srgbClr val="000000"/>
                </a:solidFill>
                <a:latin typeface="PT Sans Narrow"/>
                <a:ea typeface="PT Sans Narrow"/>
                <a:cs typeface="PT Sans Narrow"/>
                <a:sym typeface="PT Sans Narrow"/>
              </a:rPr>
              <a:t>Hard to tune hyperparameters.</a:t>
            </a:r>
            <a:endParaRPr sz="3750">
              <a:solidFill>
                <a:srgbClr val="000000"/>
              </a:solidFill>
              <a:latin typeface="PT Sans Narrow"/>
              <a:ea typeface="PT Sans Narrow"/>
              <a:cs typeface="PT Sans Narrow"/>
              <a:sym typeface="PT Sans Narrow"/>
            </a:endParaRPr>
          </a:p>
          <a:p>
            <a:pPr indent="0" lvl="0" marL="0" rtl="0" algn="l">
              <a:spcBef>
                <a:spcPts val="1200"/>
              </a:spcBef>
              <a:spcAft>
                <a:spcPts val="0"/>
              </a:spcAft>
              <a:buNone/>
            </a:pPr>
            <a:r>
              <a:rPr b="1" lang="en-GB" sz="5050">
                <a:solidFill>
                  <a:srgbClr val="000000"/>
                </a:solidFill>
                <a:latin typeface="PT Sans Narrow"/>
                <a:ea typeface="PT Sans Narrow"/>
                <a:cs typeface="PT Sans Narrow"/>
                <a:sym typeface="PT Sans Narrow"/>
              </a:rPr>
              <a:t>Translation &amp; Device Sensitivity</a:t>
            </a:r>
            <a:r>
              <a:rPr lang="en-GB" sz="5050">
                <a:solidFill>
                  <a:srgbClr val="000000"/>
                </a:solidFill>
                <a:latin typeface="PT Sans Narrow"/>
                <a:ea typeface="PT Sans Narrow"/>
                <a:cs typeface="PT Sans Narrow"/>
                <a:sym typeface="PT Sans Narrow"/>
              </a:rPr>
              <a:t>: </a:t>
            </a:r>
            <a:endParaRPr sz="5050">
              <a:solidFill>
                <a:srgbClr val="000000"/>
              </a:solidFill>
              <a:latin typeface="PT Sans Narrow"/>
              <a:ea typeface="PT Sans Narrow"/>
              <a:cs typeface="PT Sans Narrow"/>
              <a:sym typeface="PT Sans Narrow"/>
            </a:endParaRPr>
          </a:p>
          <a:p>
            <a:pPr indent="0" lvl="0" marL="0" rtl="0" algn="l">
              <a:spcBef>
                <a:spcPts val="1200"/>
              </a:spcBef>
              <a:spcAft>
                <a:spcPts val="0"/>
              </a:spcAft>
              <a:buNone/>
            </a:pPr>
            <a:r>
              <a:rPr lang="en-GB" sz="3989">
                <a:solidFill>
                  <a:srgbClr val="000000"/>
                </a:solidFill>
                <a:latin typeface="PT Sans Narrow"/>
                <a:ea typeface="PT Sans Narrow"/>
                <a:cs typeface="PT Sans Narrow"/>
                <a:sym typeface="PT Sans Narrow"/>
              </a:rPr>
              <a:t>Rotated/shifted images or different devices can break the model; CNNs can help.</a:t>
            </a:r>
            <a:endParaRPr sz="8189">
              <a:solidFill>
                <a:srgbClr val="000000"/>
              </a:solidFill>
              <a:latin typeface="PT Sans Narrow"/>
              <a:ea typeface="PT Sans Narrow"/>
              <a:cs typeface="PT Sans Narrow"/>
              <a:sym typeface="PT Sans Narrow"/>
            </a:endParaRPr>
          </a:p>
          <a:p>
            <a:pPr indent="0" lvl="0" marL="0" rtl="0" algn="l">
              <a:spcBef>
                <a:spcPts val="1200"/>
              </a:spcBef>
              <a:spcAft>
                <a:spcPts val="0"/>
              </a:spcAft>
              <a:buNone/>
            </a:pPr>
            <a:r>
              <a:rPr b="1" lang="en-GB" sz="4350">
                <a:solidFill>
                  <a:srgbClr val="1F1F1F"/>
                </a:solidFill>
                <a:latin typeface="PT Sans Narrow"/>
                <a:ea typeface="PT Sans Narrow"/>
                <a:cs typeface="PT Sans Narrow"/>
                <a:sym typeface="PT Sans Narrow"/>
              </a:rPr>
              <a:t>Overconfident Predictions:</a:t>
            </a:r>
            <a:r>
              <a:rPr b="1" lang="en-GB" sz="2100">
                <a:solidFill>
                  <a:srgbClr val="1F1F1F"/>
                </a:solidFill>
                <a:latin typeface="PT Sans Narrow"/>
                <a:ea typeface="PT Sans Narrow"/>
                <a:cs typeface="PT Sans Narrow"/>
                <a:sym typeface="PT Sans Narrow"/>
              </a:rPr>
              <a:t> </a:t>
            </a:r>
            <a:endParaRPr b="1" sz="2100">
              <a:solidFill>
                <a:srgbClr val="1F1F1F"/>
              </a:solidFill>
              <a:latin typeface="PT Sans Narrow"/>
              <a:ea typeface="PT Sans Narrow"/>
              <a:cs typeface="PT Sans Narrow"/>
              <a:sym typeface="PT Sans Narrow"/>
            </a:endParaRPr>
          </a:p>
          <a:p>
            <a:pPr indent="0" lvl="0" marL="0" rtl="0" algn="l">
              <a:spcBef>
                <a:spcPts val="1200"/>
              </a:spcBef>
              <a:spcAft>
                <a:spcPts val="0"/>
              </a:spcAft>
              <a:buNone/>
            </a:pPr>
            <a:r>
              <a:rPr lang="en-GB" sz="3960">
                <a:solidFill>
                  <a:srgbClr val="1F1F1F"/>
                </a:solidFill>
                <a:latin typeface="PT Sans Narrow"/>
                <a:ea typeface="PT Sans Narrow"/>
                <a:cs typeface="PT Sans Narrow"/>
                <a:sym typeface="PT Sans Narrow"/>
              </a:rPr>
              <a:t>Softmax outputs high confidence even for wrong inputs; model memorizes pixels, not structure</a:t>
            </a:r>
            <a:r>
              <a:rPr lang="en-GB" sz="3750">
                <a:solidFill>
                  <a:srgbClr val="1F1F1F"/>
                </a:solidFill>
                <a:latin typeface="PT Sans Narrow"/>
                <a:ea typeface="PT Sans Narrow"/>
                <a:cs typeface="PT Sans Narrow"/>
                <a:sym typeface="PT Sans Narrow"/>
              </a:rPr>
              <a:t>.</a:t>
            </a:r>
            <a:endParaRPr b="1" sz="3750">
              <a:solidFill>
                <a:srgbClr val="1F1F1F"/>
              </a:solidFill>
              <a:latin typeface="PT Sans Narrow"/>
              <a:ea typeface="PT Sans Narrow"/>
              <a:cs typeface="PT Sans Narrow"/>
              <a:sym typeface="PT Sans Narrow"/>
            </a:endParaRPr>
          </a:p>
          <a:p>
            <a:pPr indent="0" lvl="0" marL="457200" rtl="0" algn="l">
              <a:spcBef>
                <a:spcPts val="1200"/>
              </a:spcBef>
              <a:spcAft>
                <a:spcPts val="1200"/>
              </a:spcAft>
              <a:buNone/>
            </a:pPr>
            <a:r>
              <a:t/>
            </a:r>
            <a:endParaRPr/>
          </a:p>
        </p:txBody>
      </p:sp>
      <p:sp>
        <p:nvSpPr>
          <p:cNvPr id="102" name="Google Shape;102;p18"/>
          <p:cNvSpPr txBox="1"/>
          <p:nvPr/>
        </p:nvSpPr>
        <p:spPr>
          <a:xfrm>
            <a:off x="5673150" y="4064425"/>
            <a:ext cx="3763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rgbClr val="1F1F1F"/>
                </a:solidFill>
                <a:latin typeface="Open Sans"/>
                <a:ea typeface="Open Sans"/>
                <a:cs typeface="Open Sans"/>
                <a:sym typeface="Open Sans"/>
              </a:rPr>
              <a:t>Demo Link:</a:t>
            </a:r>
            <a:br>
              <a:rPr lang="en-GB" sz="1800">
                <a:solidFill>
                  <a:schemeClr val="dk2"/>
                </a:solidFill>
                <a:latin typeface="Open Sans"/>
                <a:ea typeface="Open Sans"/>
                <a:cs typeface="Open Sans"/>
                <a:sym typeface="Open Sans"/>
              </a:rPr>
            </a:br>
            <a:r>
              <a:rPr lang="en-GB" sz="1800">
                <a:solidFill>
                  <a:schemeClr val="dk2"/>
                </a:solidFill>
                <a:latin typeface="Open Sans"/>
                <a:ea typeface="Open Sans"/>
                <a:cs typeface="Open Sans"/>
                <a:sym typeface="Open Sans"/>
              </a:rPr>
              <a:t>https://youtu.be/eUbyGJAqGjI</a:t>
            </a:r>
            <a:endParaRPr sz="1800">
              <a:solidFill>
                <a:schemeClr val="dk2"/>
              </a:solidFill>
              <a:latin typeface="Open Sans"/>
              <a:ea typeface="Open Sans"/>
              <a:cs typeface="Open Sans"/>
              <a:sym typeface="Open Sans"/>
            </a:endParaRPr>
          </a:p>
        </p:txBody>
      </p:sp>
      <p:pic>
        <p:nvPicPr>
          <p:cNvPr id="103" name="Google Shape;103;p18" title="rotation_metrics_all.png"/>
          <p:cNvPicPr preferRelativeResize="0"/>
          <p:nvPr/>
        </p:nvPicPr>
        <p:blipFill>
          <a:blip r:embed="rId3">
            <a:alphaModFix/>
          </a:blip>
          <a:stretch>
            <a:fillRect/>
          </a:stretch>
        </p:blipFill>
        <p:spPr>
          <a:xfrm>
            <a:off x="5232425" y="1152425"/>
            <a:ext cx="3868626" cy="2659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ctrTitle"/>
          </p:nvPr>
        </p:nvSpPr>
        <p:spPr>
          <a:xfrm>
            <a:off x="1000650" y="870473"/>
            <a:ext cx="7142700" cy="2012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SzPts val="990"/>
              <a:buNone/>
            </a:pPr>
            <a:r>
              <a:rPr lang="en-GB" sz="4160"/>
              <a:t>Any Questions?</a:t>
            </a:r>
            <a:endParaRPr sz="4160"/>
          </a:p>
        </p:txBody>
      </p:sp>
      <p:sp>
        <p:nvSpPr>
          <p:cNvPr id="109" name="Google Shape;109;p19"/>
          <p:cNvSpPr txBox="1"/>
          <p:nvPr/>
        </p:nvSpPr>
        <p:spPr>
          <a:xfrm>
            <a:off x="642750" y="3137050"/>
            <a:ext cx="7793400" cy="839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600"/>
              </a:spcBef>
              <a:spcAft>
                <a:spcPts val="0"/>
              </a:spcAft>
              <a:buNone/>
            </a:pPr>
            <a:r>
              <a:t/>
            </a:r>
            <a:endParaRPr sz="1700">
              <a:solidFill>
                <a:srgbClr val="1F1F1F"/>
              </a:solidFill>
              <a:highlight>
                <a:srgbClr val="FFFFFF"/>
              </a:highlight>
              <a:latin typeface="PT Sans Narrow"/>
              <a:ea typeface="PT Sans Narrow"/>
              <a:cs typeface="PT Sans Narrow"/>
              <a:sym typeface="PT Sans Narrow"/>
            </a:endParaRPr>
          </a:p>
          <a:p>
            <a:pPr indent="0" lvl="0" marL="0" rtl="0" algn="l">
              <a:spcBef>
                <a:spcPts val="600"/>
              </a:spcBef>
              <a:spcAft>
                <a:spcPts val="0"/>
              </a:spcAft>
              <a:buNone/>
            </a:pPr>
            <a:r>
              <a:t/>
            </a:r>
            <a:endParaRPr sz="1800">
              <a:solidFill>
                <a:schemeClr val="dk2"/>
              </a:solidFill>
              <a:latin typeface="PT Sans Narrow"/>
              <a:ea typeface="PT Sans Narrow"/>
              <a:cs typeface="PT Sans Narrow"/>
              <a:sym typeface="PT Sans Narrow"/>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